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7" r:id="rId3"/>
    <p:sldId id="257" r:id="rId4"/>
    <p:sldId id="269" r:id="rId5"/>
    <p:sldId id="270" r:id="rId6"/>
    <p:sldId id="271" r:id="rId7"/>
    <p:sldId id="272" r:id="rId8"/>
    <p:sldId id="273" r:id="rId9"/>
    <p:sldId id="274"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3B3B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E0061F-BFDE-7175-2EDA-F472504290F4}" v="789" dt="2020-12-24T05:43:13.3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15"/>
    <p:restoredTop sz="95940"/>
  </p:normalViewPr>
  <p:slideViewPr>
    <p:cSldViewPr snapToGrid="0">
      <p:cViewPr varScale="1">
        <p:scale>
          <a:sx n="58" d="100"/>
          <a:sy n="58" d="100"/>
        </p:scale>
        <p:origin x="232" y="13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49232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4894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C764DE79-268F-4C1A-8933-263129D2AF90}" type="datetimeFigureOut">
              <a:rPr lang="en-US" dirty="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87173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Date Placeholder 4"/>
          <p:cNvSpPr>
            <a:spLocks noGrp="1"/>
          </p:cNvSpPr>
          <p:nvPr>
            <p:ph type="dt" sz="half" idx="10"/>
          </p:nvPr>
        </p:nvSpPr>
        <p:spPr/>
        <p:txBody>
          <a:bodyPr/>
          <a:lstStyle/>
          <a:p>
            <a:fld id="{C764DE79-268F-4C1A-8933-263129D2AF90}" type="datetimeFigureOut">
              <a:rPr lang="en-US" dirty="0"/>
              <a:t>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12881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Date Placeholder 6"/>
          <p:cNvSpPr>
            <a:spLocks noGrp="1"/>
          </p:cNvSpPr>
          <p:nvPr>
            <p:ph type="dt" sz="half" idx="10"/>
          </p:nvPr>
        </p:nvSpPr>
        <p:spPr/>
        <p:txBody>
          <a:bodyPr/>
          <a:lstStyle/>
          <a:p>
            <a:fld id="{C764DE79-268F-4C1A-8933-263129D2AF90}" type="datetimeFigureOut">
              <a:rPr lang="en-US" dirty="0"/>
              <a:t>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887126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Date Placeholder 2"/>
          <p:cNvSpPr>
            <a:spLocks noGrp="1"/>
          </p:cNvSpPr>
          <p:nvPr>
            <p:ph type="dt" sz="half" idx="10"/>
          </p:nvPr>
        </p:nvSpPr>
        <p:spPr/>
        <p:txBody>
          <a:bodyPr/>
          <a:lstStyle/>
          <a:p>
            <a:fld id="{C764DE79-268F-4C1A-8933-263129D2AF90}" type="datetimeFigureOut">
              <a:rPr lang="en-US" dirty="0"/>
              <a:t>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840621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47478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C764DE79-268F-4C1A-8933-263129D2AF90}" type="datetimeFigureOut">
              <a:rPr lang="en-US" dirty="0"/>
              <a:t>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35815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C764DE79-268F-4C1A-8933-263129D2AF90}" type="datetimeFigureOut">
              <a:rPr lang="en-US" dirty="0"/>
              <a:t>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25847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54809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78620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322171821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B3B3B"/>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41DC996-1A4B-4D4F-A733-3A00E5ABC2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332" y="0"/>
            <a:ext cx="2325467" cy="2325467"/>
          </a:xfrm>
          <a:prstGeom prst="rect">
            <a:avLst/>
          </a:prstGeom>
        </p:spPr>
      </p:pic>
      <p:sp>
        <p:nvSpPr>
          <p:cNvPr id="11" name="TextBox 10">
            <a:extLst>
              <a:ext uri="{FF2B5EF4-FFF2-40B4-BE49-F238E27FC236}">
                <a16:creationId xmlns:a16="http://schemas.microsoft.com/office/drawing/2014/main" id="{00CC22B5-8500-2C45-91DE-A596A6DF1C3B}"/>
              </a:ext>
            </a:extLst>
          </p:cNvPr>
          <p:cNvSpPr txBox="1"/>
          <p:nvPr/>
        </p:nvSpPr>
        <p:spPr>
          <a:xfrm>
            <a:off x="870857" y="2380343"/>
            <a:ext cx="10290446" cy="2769989"/>
          </a:xfrm>
          <a:prstGeom prst="rect">
            <a:avLst/>
          </a:prstGeom>
          <a:solidFill>
            <a:srgbClr val="3B3B3B"/>
          </a:solidFill>
        </p:spPr>
        <p:txBody>
          <a:bodyPr wrap="none" rtlCol="0">
            <a:spAutoFit/>
          </a:bodyPr>
          <a:lstStyle/>
          <a:p>
            <a:r>
              <a:rPr lang="en-US" sz="6600" dirty="0">
                <a:solidFill>
                  <a:srgbClr val="FF6600"/>
                </a:solidFill>
              </a:rPr>
              <a:t>Exploratory Data Analysis</a:t>
            </a:r>
          </a:p>
          <a:p>
            <a:r>
              <a:rPr lang="en-US" sz="4000" dirty="0"/>
              <a:t>Week3 – Investment Analysis in the Cab Industry</a:t>
            </a:r>
          </a:p>
          <a:p>
            <a:endParaRPr lang="en-US" sz="4000" dirty="0"/>
          </a:p>
          <a:p>
            <a:r>
              <a:rPr lang="en-US" sz="2800" b="1" dirty="0"/>
              <a:t>20-Dec-2023</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F26E-9345-4747-9094-972E38700A17}"/>
              </a:ext>
            </a:extLst>
          </p:cNvPr>
          <p:cNvSpPr>
            <a:spLocks noGrp="1"/>
          </p:cNvSpPr>
          <p:nvPr>
            <p:ph type="ctrTitle"/>
          </p:nvPr>
        </p:nvSpPr>
        <p:spPr>
          <a:xfrm rot="5400000">
            <a:off x="-562431" y="562430"/>
            <a:ext cx="6858002" cy="5733142"/>
          </a:xfrm>
          <a:solidFill>
            <a:srgbClr val="3B3B3B"/>
          </a:solidFill>
        </p:spPr>
        <p:txBody>
          <a:bodyPr vert="vert270" anchor="t" anchorCtr="0"/>
          <a:lstStyle/>
          <a:p>
            <a:br>
              <a:rPr lang="en-US" dirty="0"/>
            </a:br>
            <a:br>
              <a:rPr lang="en-US" dirty="0"/>
            </a:br>
            <a:br>
              <a:rPr lang="en-US" dirty="0"/>
            </a:br>
            <a:r>
              <a:rPr lang="en-US" b="1" dirty="0">
                <a:solidFill>
                  <a:srgbClr val="FF6600"/>
                </a:solidFill>
              </a:rPr>
              <a:t>Agenda</a:t>
            </a:r>
          </a:p>
        </p:txBody>
      </p:sp>
      <p:sp>
        <p:nvSpPr>
          <p:cNvPr id="3" name="Subtitle 2">
            <a:extLst>
              <a:ext uri="{FF2B5EF4-FFF2-40B4-BE49-F238E27FC236}">
                <a16:creationId xmlns:a16="http://schemas.microsoft.com/office/drawing/2014/main" id="{60B3D5A6-E766-7C41-BD00-B22DA4727FBA}"/>
              </a:ext>
            </a:extLst>
          </p:cNvPr>
          <p:cNvSpPr>
            <a:spLocks noGrp="1"/>
          </p:cNvSpPr>
          <p:nvPr>
            <p:ph type="subTitle" idx="1"/>
          </p:nvPr>
        </p:nvSpPr>
        <p:spPr>
          <a:xfrm rot="5400000">
            <a:off x="5533569" y="199573"/>
            <a:ext cx="6858004" cy="6458857"/>
          </a:xfrm>
        </p:spPr>
        <p:txBody>
          <a:bodyPr vert="vert270">
            <a:normAutofit/>
          </a:bodyPr>
          <a:lstStyle/>
          <a:p>
            <a:endParaRPr lang="en-US" dirty="0">
              <a:solidFill>
                <a:srgbClr val="FF6600"/>
              </a:solidFill>
            </a:endParaRPr>
          </a:p>
          <a:p>
            <a:pPr algn="just"/>
            <a:r>
              <a:rPr lang="en-US" dirty="0">
                <a:solidFill>
                  <a:srgbClr val="FF6600"/>
                </a:solidFill>
              </a:rPr>
              <a:t>   </a:t>
            </a:r>
          </a:p>
          <a:p>
            <a:pPr algn="just"/>
            <a:r>
              <a:rPr lang="en-US" sz="2800" dirty="0">
                <a:solidFill>
                  <a:srgbClr val="FF6600"/>
                </a:solidFill>
              </a:rPr>
              <a:t>         </a:t>
            </a:r>
          </a:p>
          <a:p>
            <a:pPr algn="just"/>
            <a:r>
              <a:rPr lang="en-US" sz="2800" dirty="0">
                <a:solidFill>
                  <a:srgbClr val="FF6600"/>
                </a:solidFill>
              </a:rPr>
              <a:t>         Executive Summary</a:t>
            </a:r>
          </a:p>
          <a:p>
            <a:pPr algn="just"/>
            <a:r>
              <a:rPr lang="en-US" sz="2800" dirty="0">
                <a:solidFill>
                  <a:srgbClr val="FF6600"/>
                </a:solidFill>
              </a:rPr>
              <a:t>         Problem Statement</a:t>
            </a:r>
          </a:p>
          <a:p>
            <a:pPr algn="just"/>
            <a:r>
              <a:rPr lang="en-US" sz="2800" dirty="0">
                <a:solidFill>
                  <a:srgbClr val="FF6600"/>
                </a:solidFill>
              </a:rPr>
              <a:t>         Approach</a:t>
            </a:r>
          </a:p>
          <a:p>
            <a:pPr algn="just"/>
            <a:r>
              <a:rPr lang="en-US" sz="2800" dirty="0">
                <a:solidFill>
                  <a:srgbClr val="FF6600"/>
                </a:solidFill>
              </a:rPr>
              <a:t>         EDA</a:t>
            </a:r>
          </a:p>
          <a:p>
            <a:pPr algn="just"/>
            <a:r>
              <a:rPr lang="en-US" sz="2800" dirty="0">
                <a:solidFill>
                  <a:srgbClr val="FF6600"/>
                </a:solidFill>
              </a:rPr>
              <a:t>         EDA Summary</a:t>
            </a:r>
          </a:p>
          <a:p>
            <a:pPr algn="just"/>
            <a:r>
              <a:rPr lang="en-US" sz="2800" dirty="0">
                <a:solidFill>
                  <a:srgbClr val="FF6600"/>
                </a:solidFill>
              </a:rPr>
              <a:t>         Recommendations</a:t>
            </a:r>
          </a:p>
          <a:p>
            <a:endParaRPr lang="en-US" sz="3200" dirty="0">
              <a:solidFill>
                <a:srgbClr val="FF6600"/>
              </a:solidFill>
            </a:endParaRPr>
          </a:p>
          <a:p>
            <a:endParaRPr lang="en-US" dirty="0">
              <a:solidFill>
                <a:srgbClr val="FF6600"/>
              </a:solidFill>
            </a:endParaRPr>
          </a:p>
          <a:p>
            <a:endParaRPr lang="en-US" dirty="0">
              <a:solidFill>
                <a:srgbClr val="FF6600"/>
              </a:solidFill>
            </a:endParaRPr>
          </a:p>
        </p:txBody>
      </p:sp>
      <p:pic>
        <p:nvPicPr>
          <p:cNvPr id="4" name="Picture 3">
            <a:extLst>
              <a:ext uri="{FF2B5EF4-FFF2-40B4-BE49-F238E27FC236}">
                <a16:creationId xmlns:a16="http://schemas.microsoft.com/office/drawing/2014/main" id="{7A465064-0714-5743-882B-8875105A70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63771"/>
            <a:ext cx="1654627" cy="994232"/>
          </a:xfrm>
          <a:prstGeom prst="rect">
            <a:avLst/>
          </a:prstGeom>
        </p:spPr>
      </p:pic>
    </p:spTree>
    <p:extLst>
      <p:ext uri="{BB962C8B-B14F-4D97-AF65-F5344CB8AC3E}">
        <p14:creationId xmlns:p14="http://schemas.microsoft.com/office/powerpoint/2010/main" val="4047255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C5C5A3-2E84-0849-82EA-36D2326D3784}"/>
              </a:ext>
            </a:extLst>
          </p:cNvPr>
          <p:cNvSpPr>
            <a:spLocks noGrp="1"/>
          </p:cNvSpPr>
          <p:nvPr>
            <p:ph idx="1"/>
          </p:nvPr>
        </p:nvSpPr>
        <p:spPr>
          <a:xfrm>
            <a:off x="762000" y="1812608"/>
            <a:ext cx="10515600" cy="3004719"/>
          </a:xfrm>
        </p:spPr>
        <p:txBody>
          <a:bodyPr>
            <a:normAutofit/>
          </a:bodyPr>
          <a:lstStyle/>
          <a:p>
            <a:r>
              <a:rPr lang="en-US" sz="1800" dirty="0"/>
              <a:t>XYZ is a private equity firm in US. Due to remarkable growth in the Cab Industry in last few years and multiple key players in the market, it is planning for an investment in Cab industry. </a:t>
            </a:r>
          </a:p>
          <a:p>
            <a:pPr marL="0" indent="0">
              <a:buNone/>
            </a:pPr>
            <a:endParaRPr lang="en-US" sz="1800" dirty="0"/>
          </a:p>
          <a:p>
            <a:r>
              <a:rPr lang="en-US" sz="1800" dirty="0"/>
              <a:t>Objective : To identify the best investment option in the U.S. cab industry for XYZ Company.</a:t>
            </a:r>
          </a:p>
          <a:p>
            <a:r>
              <a:rPr lang="en-US" sz="1800" dirty="0"/>
              <a:t>Method: Comprehensive analysis of provided datasets using exploratory data analysis(EDA).</a:t>
            </a:r>
          </a:p>
          <a:p>
            <a:r>
              <a:rPr lang="en-US" sz="1800" dirty="0"/>
              <a:t>Key Finding: Substantial differences in average fare and travel distance between Pink and Yellow Cab companies.</a:t>
            </a:r>
          </a:p>
          <a:p>
            <a:endParaRPr lang="en-US" sz="1800" dirty="0"/>
          </a:p>
        </p:txBody>
      </p:sp>
      <p:sp>
        <p:nvSpPr>
          <p:cNvPr id="4" name="Rectangle 3">
            <a:extLst>
              <a:ext uri="{FF2B5EF4-FFF2-40B4-BE49-F238E27FC236}">
                <a16:creationId xmlns:a16="http://schemas.microsoft.com/office/drawing/2014/main" id="{DD7B960C-F6E1-AE45-98A6-122DB2A97B5B}"/>
              </a:ext>
            </a:extLst>
          </p:cNvPr>
          <p:cNvSpPr/>
          <p:nvPr/>
        </p:nvSpPr>
        <p:spPr>
          <a:xfrm>
            <a:off x="0" y="0"/>
            <a:ext cx="12192000" cy="1371600"/>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526CBCB-8ADA-0E48-96D7-11EEE40222DD}"/>
              </a:ext>
            </a:extLst>
          </p:cNvPr>
          <p:cNvSpPr>
            <a:spLocks noGrp="1"/>
          </p:cNvSpPr>
          <p:nvPr>
            <p:ph type="title"/>
          </p:nvPr>
        </p:nvSpPr>
        <p:spPr>
          <a:xfrm>
            <a:off x="838200" y="46037"/>
            <a:ext cx="10515600" cy="1325563"/>
          </a:xfrm>
        </p:spPr>
        <p:txBody>
          <a:bodyPr>
            <a:normAutofit/>
          </a:bodyPr>
          <a:lstStyle/>
          <a:p>
            <a:r>
              <a:rPr lang="en-US" sz="3500" b="1" dirty="0">
                <a:solidFill>
                  <a:schemeClr val="accent2"/>
                </a:solidFill>
                <a:latin typeface="Calibri" panose="020F0502020204030204" pitchFamily="34" charset="0"/>
                <a:cs typeface="Calibri" panose="020F0502020204030204" pitchFamily="34" charset="0"/>
              </a:rPr>
              <a:t>Executive Summary</a:t>
            </a:r>
          </a:p>
        </p:txBody>
      </p:sp>
    </p:spTree>
    <p:extLst>
      <p:ext uri="{BB962C8B-B14F-4D97-AF65-F5344CB8AC3E}">
        <p14:creationId xmlns:p14="http://schemas.microsoft.com/office/powerpoint/2010/main" val="3504532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C5C5A3-2E84-0849-82EA-36D2326D3784}"/>
              </a:ext>
            </a:extLst>
          </p:cNvPr>
          <p:cNvSpPr>
            <a:spLocks noGrp="1"/>
          </p:cNvSpPr>
          <p:nvPr>
            <p:ph idx="1"/>
          </p:nvPr>
        </p:nvSpPr>
        <p:spPr>
          <a:xfrm>
            <a:off x="762000" y="1812608"/>
            <a:ext cx="10515600" cy="3004719"/>
          </a:xfrm>
        </p:spPr>
        <p:txBody>
          <a:bodyPr>
            <a:normAutofit/>
          </a:bodyPr>
          <a:lstStyle/>
          <a:p>
            <a:r>
              <a:rPr lang="en-US" sz="1800" dirty="0"/>
              <a:t>XYZ Company is considering an investment in the U.S. cab industry.</a:t>
            </a:r>
          </a:p>
          <a:p>
            <a:r>
              <a:rPr lang="en-US" sz="1800" dirty="0"/>
              <a:t>Need to determine the most promising investment target based on market and operational data analysis.</a:t>
            </a:r>
          </a:p>
          <a:p>
            <a:endParaRPr lang="en-US" sz="1800" dirty="0"/>
          </a:p>
        </p:txBody>
      </p:sp>
      <p:sp>
        <p:nvSpPr>
          <p:cNvPr id="4" name="Rectangle 3">
            <a:extLst>
              <a:ext uri="{FF2B5EF4-FFF2-40B4-BE49-F238E27FC236}">
                <a16:creationId xmlns:a16="http://schemas.microsoft.com/office/drawing/2014/main" id="{DD7B960C-F6E1-AE45-98A6-122DB2A97B5B}"/>
              </a:ext>
            </a:extLst>
          </p:cNvPr>
          <p:cNvSpPr/>
          <p:nvPr/>
        </p:nvSpPr>
        <p:spPr>
          <a:xfrm>
            <a:off x="0" y="0"/>
            <a:ext cx="12192000" cy="1371600"/>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526CBCB-8ADA-0E48-96D7-11EEE40222DD}"/>
              </a:ext>
            </a:extLst>
          </p:cNvPr>
          <p:cNvSpPr>
            <a:spLocks noGrp="1"/>
          </p:cNvSpPr>
          <p:nvPr>
            <p:ph type="title"/>
          </p:nvPr>
        </p:nvSpPr>
        <p:spPr>
          <a:xfrm>
            <a:off x="838200" y="46037"/>
            <a:ext cx="10515600" cy="1325563"/>
          </a:xfrm>
        </p:spPr>
        <p:txBody>
          <a:bodyPr>
            <a:normAutofit/>
          </a:bodyPr>
          <a:lstStyle/>
          <a:p>
            <a:r>
              <a:rPr lang="en-US" sz="3500" b="1" dirty="0">
                <a:solidFill>
                  <a:schemeClr val="accent2"/>
                </a:solidFill>
                <a:latin typeface="Calibri" panose="020F0502020204030204" pitchFamily="34" charset="0"/>
                <a:cs typeface="Calibri" panose="020F0502020204030204" pitchFamily="34" charset="0"/>
              </a:rPr>
              <a:t>Problem Statement</a:t>
            </a:r>
          </a:p>
        </p:txBody>
      </p:sp>
    </p:spTree>
    <p:extLst>
      <p:ext uri="{BB962C8B-B14F-4D97-AF65-F5344CB8AC3E}">
        <p14:creationId xmlns:p14="http://schemas.microsoft.com/office/powerpoint/2010/main" val="2030056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C5C5A3-2E84-0849-82EA-36D2326D3784}"/>
              </a:ext>
            </a:extLst>
          </p:cNvPr>
          <p:cNvSpPr>
            <a:spLocks noGrp="1"/>
          </p:cNvSpPr>
          <p:nvPr>
            <p:ph idx="1"/>
          </p:nvPr>
        </p:nvSpPr>
        <p:spPr>
          <a:xfrm>
            <a:off x="762000" y="1812608"/>
            <a:ext cx="10515600" cy="3004719"/>
          </a:xfrm>
        </p:spPr>
        <p:txBody>
          <a:bodyPr>
            <a:normAutofit/>
          </a:bodyPr>
          <a:lstStyle/>
          <a:p>
            <a:r>
              <a:rPr lang="en-US" sz="1800" dirty="0"/>
              <a:t>Collected and analyzed data from three CSV file: </a:t>
            </a:r>
            <a:r>
              <a:rPr lang="en-US" sz="1800" dirty="0" err="1"/>
              <a:t>Cab_data</a:t>
            </a:r>
            <a:r>
              <a:rPr lang="en-US" sz="1800" dirty="0"/>
              <a:t>, City, and </a:t>
            </a:r>
            <a:r>
              <a:rPr lang="en-US" sz="1800" dirty="0" err="1"/>
              <a:t>Customer_ID</a:t>
            </a:r>
            <a:r>
              <a:rPr lang="en-US" sz="1800" dirty="0"/>
              <a:t>.</a:t>
            </a:r>
          </a:p>
          <a:p>
            <a:r>
              <a:rPr lang="en-US" sz="1800" dirty="0"/>
              <a:t>Conducted EDA to uncover patterns, trends, and insights.</a:t>
            </a:r>
          </a:p>
          <a:p>
            <a:r>
              <a:rPr lang="en-US" sz="1800" dirty="0"/>
              <a:t>Used Python with libraries like pandas for data manipulation and seaborn for visualization.</a:t>
            </a:r>
          </a:p>
          <a:p>
            <a:endParaRPr lang="en-US" sz="1800" dirty="0"/>
          </a:p>
        </p:txBody>
      </p:sp>
      <p:sp>
        <p:nvSpPr>
          <p:cNvPr id="4" name="Rectangle 3">
            <a:extLst>
              <a:ext uri="{FF2B5EF4-FFF2-40B4-BE49-F238E27FC236}">
                <a16:creationId xmlns:a16="http://schemas.microsoft.com/office/drawing/2014/main" id="{DD7B960C-F6E1-AE45-98A6-122DB2A97B5B}"/>
              </a:ext>
            </a:extLst>
          </p:cNvPr>
          <p:cNvSpPr/>
          <p:nvPr/>
        </p:nvSpPr>
        <p:spPr>
          <a:xfrm>
            <a:off x="0" y="0"/>
            <a:ext cx="12192000" cy="1371600"/>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526CBCB-8ADA-0E48-96D7-11EEE40222DD}"/>
              </a:ext>
            </a:extLst>
          </p:cNvPr>
          <p:cNvSpPr>
            <a:spLocks noGrp="1"/>
          </p:cNvSpPr>
          <p:nvPr>
            <p:ph type="title"/>
          </p:nvPr>
        </p:nvSpPr>
        <p:spPr>
          <a:xfrm>
            <a:off x="838200" y="46037"/>
            <a:ext cx="10515600" cy="1325563"/>
          </a:xfrm>
        </p:spPr>
        <p:txBody>
          <a:bodyPr>
            <a:normAutofit/>
          </a:bodyPr>
          <a:lstStyle/>
          <a:p>
            <a:r>
              <a:rPr lang="en-US" sz="3500" b="1" dirty="0">
                <a:solidFill>
                  <a:schemeClr val="accent2"/>
                </a:solidFill>
                <a:latin typeface="Calibri" panose="020F0502020204030204" pitchFamily="34" charset="0"/>
                <a:cs typeface="Calibri" panose="020F0502020204030204" pitchFamily="34" charset="0"/>
              </a:rPr>
              <a:t>Approach</a:t>
            </a:r>
          </a:p>
        </p:txBody>
      </p:sp>
    </p:spTree>
    <p:extLst>
      <p:ext uri="{BB962C8B-B14F-4D97-AF65-F5344CB8AC3E}">
        <p14:creationId xmlns:p14="http://schemas.microsoft.com/office/powerpoint/2010/main" val="1772915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C5C5A3-2E84-0849-82EA-36D2326D3784}"/>
              </a:ext>
            </a:extLst>
          </p:cNvPr>
          <p:cNvSpPr>
            <a:spLocks noGrp="1"/>
          </p:cNvSpPr>
          <p:nvPr>
            <p:ph idx="1"/>
          </p:nvPr>
        </p:nvSpPr>
        <p:spPr>
          <a:xfrm>
            <a:off x="762000" y="1812608"/>
            <a:ext cx="10515600" cy="3004719"/>
          </a:xfrm>
        </p:spPr>
        <p:txBody>
          <a:bodyPr>
            <a:normAutofit/>
          </a:bodyPr>
          <a:lstStyle/>
          <a:p>
            <a:r>
              <a:rPr lang="en-US" sz="1800" dirty="0"/>
              <a:t>Investigated basic dataset statistics to understand the scale and operations of the cab companies.</a:t>
            </a:r>
          </a:p>
          <a:p>
            <a:r>
              <a:rPr lang="en-US" sz="1800" dirty="0"/>
              <a:t>Found no missing values; datasets are clean and well-structured for analysis.</a:t>
            </a:r>
          </a:p>
          <a:p>
            <a:r>
              <a:rPr lang="en-US" sz="1800" dirty="0"/>
              <a:t>Analyzed customer demographics to assess market segmentation potential.</a:t>
            </a:r>
          </a:p>
          <a:p>
            <a:endParaRPr lang="en-US" sz="1800" dirty="0"/>
          </a:p>
        </p:txBody>
      </p:sp>
      <p:sp>
        <p:nvSpPr>
          <p:cNvPr id="4" name="Rectangle 3">
            <a:extLst>
              <a:ext uri="{FF2B5EF4-FFF2-40B4-BE49-F238E27FC236}">
                <a16:creationId xmlns:a16="http://schemas.microsoft.com/office/drawing/2014/main" id="{DD7B960C-F6E1-AE45-98A6-122DB2A97B5B}"/>
              </a:ext>
            </a:extLst>
          </p:cNvPr>
          <p:cNvSpPr/>
          <p:nvPr/>
        </p:nvSpPr>
        <p:spPr>
          <a:xfrm>
            <a:off x="0" y="0"/>
            <a:ext cx="12192000" cy="1371600"/>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526CBCB-8ADA-0E48-96D7-11EEE40222DD}"/>
              </a:ext>
            </a:extLst>
          </p:cNvPr>
          <p:cNvSpPr>
            <a:spLocks noGrp="1"/>
          </p:cNvSpPr>
          <p:nvPr>
            <p:ph type="title"/>
          </p:nvPr>
        </p:nvSpPr>
        <p:spPr>
          <a:xfrm>
            <a:off x="838200" y="46037"/>
            <a:ext cx="10515600" cy="1325563"/>
          </a:xfrm>
        </p:spPr>
        <p:txBody>
          <a:bodyPr>
            <a:normAutofit/>
          </a:bodyPr>
          <a:lstStyle/>
          <a:p>
            <a:r>
              <a:rPr lang="en-US" sz="3500" b="1" dirty="0">
                <a:solidFill>
                  <a:schemeClr val="accent2"/>
                </a:solidFill>
                <a:latin typeface="Calibri" panose="020F0502020204030204" pitchFamily="34" charset="0"/>
                <a:cs typeface="Calibri" panose="020F0502020204030204" pitchFamily="34" charset="0"/>
              </a:rPr>
              <a:t>EDA</a:t>
            </a:r>
          </a:p>
        </p:txBody>
      </p:sp>
      <p:pic>
        <p:nvPicPr>
          <p:cNvPr id="5" name="그림 4" descr="텍스트, 스크린샷, 메뉴, 폰트이(가) 표시된 사진&#10;&#10;자동 생성된 설명">
            <a:extLst>
              <a:ext uri="{FF2B5EF4-FFF2-40B4-BE49-F238E27FC236}">
                <a16:creationId xmlns:a16="http://schemas.microsoft.com/office/drawing/2014/main" id="{ED6F13C7-D2D2-E9A1-BB4F-787AA2ADA1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5337" y="3189249"/>
            <a:ext cx="2750239" cy="3624146"/>
          </a:xfrm>
          <a:prstGeom prst="rect">
            <a:avLst/>
          </a:prstGeom>
        </p:spPr>
      </p:pic>
      <p:pic>
        <p:nvPicPr>
          <p:cNvPr id="8" name="그림 7" descr="텍스트, 스크린샷, 메뉴이(가) 표시된 사진&#10;&#10;자동 생성된 설명">
            <a:extLst>
              <a:ext uri="{FF2B5EF4-FFF2-40B4-BE49-F238E27FC236}">
                <a16:creationId xmlns:a16="http://schemas.microsoft.com/office/drawing/2014/main" id="{DDFB3D14-71FB-9151-0252-F1A8695918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3942" y="3187816"/>
            <a:ext cx="3683481" cy="3670183"/>
          </a:xfrm>
          <a:prstGeom prst="rect">
            <a:avLst/>
          </a:prstGeom>
        </p:spPr>
      </p:pic>
    </p:spTree>
    <p:extLst>
      <p:ext uri="{BB962C8B-B14F-4D97-AF65-F5344CB8AC3E}">
        <p14:creationId xmlns:p14="http://schemas.microsoft.com/office/powerpoint/2010/main" val="1946108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C5C5A3-2E84-0849-82EA-36D2326D3784}"/>
              </a:ext>
            </a:extLst>
          </p:cNvPr>
          <p:cNvSpPr>
            <a:spLocks noGrp="1"/>
          </p:cNvSpPr>
          <p:nvPr>
            <p:ph idx="1"/>
          </p:nvPr>
        </p:nvSpPr>
        <p:spPr>
          <a:xfrm>
            <a:off x="762000" y="1812608"/>
            <a:ext cx="10515600" cy="3004719"/>
          </a:xfrm>
        </p:spPr>
        <p:txBody>
          <a:bodyPr>
            <a:normAutofit/>
          </a:bodyPr>
          <a:lstStyle/>
          <a:p>
            <a:r>
              <a:rPr lang="en-US" sz="1800" dirty="0"/>
              <a:t>Visual data analysis shows Yellow Cab has a higher averaged fare and longer travel distance than Pink Cab.</a:t>
            </a:r>
          </a:p>
          <a:p>
            <a:r>
              <a:rPr lang="en-US" sz="1800" dirty="0"/>
              <a:t>Statistical summaries indicate significant transaction volume and consistent customer usage.</a:t>
            </a:r>
          </a:p>
          <a:p>
            <a:endParaRPr lang="en-US" sz="1800" dirty="0"/>
          </a:p>
        </p:txBody>
      </p:sp>
      <p:sp>
        <p:nvSpPr>
          <p:cNvPr id="4" name="Rectangle 3">
            <a:extLst>
              <a:ext uri="{FF2B5EF4-FFF2-40B4-BE49-F238E27FC236}">
                <a16:creationId xmlns:a16="http://schemas.microsoft.com/office/drawing/2014/main" id="{DD7B960C-F6E1-AE45-98A6-122DB2A97B5B}"/>
              </a:ext>
            </a:extLst>
          </p:cNvPr>
          <p:cNvSpPr/>
          <p:nvPr/>
        </p:nvSpPr>
        <p:spPr>
          <a:xfrm>
            <a:off x="0" y="0"/>
            <a:ext cx="12192000" cy="1371600"/>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526CBCB-8ADA-0E48-96D7-11EEE40222DD}"/>
              </a:ext>
            </a:extLst>
          </p:cNvPr>
          <p:cNvSpPr>
            <a:spLocks noGrp="1"/>
          </p:cNvSpPr>
          <p:nvPr>
            <p:ph type="title"/>
          </p:nvPr>
        </p:nvSpPr>
        <p:spPr>
          <a:xfrm>
            <a:off x="838200" y="46037"/>
            <a:ext cx="10515600" cy="1325563"/>
          </a:xfrm>
        </p:spPr>
        <p:txBody>
          <a:bodyPr>
            <a:normAutofit/>
          </a:bodyPr>
          <a:lstStyle/>
          <a:p>
            <a:r>
              <a:rPr lang="en-US" sz="3500" b="1" dirty="0">
                <a:solidFill>
                  <a:schemeClr val="accent2"/>
                </a:solidFill>
                <a:latin typeface="Calibri" panose="020F0502020204030204" pitchFamily="34" charset="0"/>
                <a:cs typeface="Calibri" panose="020F0502020204030204" pitchFamily="34" charset="0"/>
              </a:rPr>
              <a:t>EDA Summary</a:t>
            </a:r>
          </a:p>
        </p:txBody>
      </p:sp>
      <p:pic>
        <p:nvPicPr>
          <p:cNvPr id="1026" name="Picture 2">
            <a:extLst>
              <a:ext uri="{FF2B5EF4-FFF2-40B4-BE49-F238E27FC236}">
                <a16:creationId xmlns:a16="http://schemas.microsoft.com/office/drawing/2014/main" id="{ED280790-E899-717A-847E-E84F31185B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132" y="2631687"/>
            <a:ext cx="4654422" cy="370886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FBB5D4D-E7DE-BFE5-7C5D-2099C73017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6736" y="2639198"/>
            <a:ext cx="4581059" cy="3708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3525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C5C5A3-2E84-0849-82EA-36D2326D3784}"/>
              </a:ext>
            </a:extLst>
          </p:cNvPr>
          <p:cNvSpPr>
            <a:spLocks noGrp="1"/>
          </p:cNvSpPr>
          <p:nvPr>
            <p:ph idx="1"/>
          </p:nvPr>
        </p:nvSpPr>
        <p:spPr>
          <a:xfrm>
            <a:off x="762000" y="1812608"/>
            <a:ext cx="10515600" cy="3004719"/>
          </a:xfrm>
        </p:spPr>
        <p:txBody>
          <a:bodyPr>
            <a:normAutofit/>
          </a:bodyPr>
          <a:lstStyle/>
          <a:p>
            <a:r>
              <a:rPr lang="en-US" sz="1800" dirty="0"/>
              <a:t>Based on initial findings, Yellow Cab may offer a more lucrative investment opportunity due to higher fares and longer average distances traveled.</a:t>
            </a:r>
          </a:p>
          <a:p>
            <a:r>
              <a:rPr lang="en-US" sz="1800" dirty="0"/>
              <a:t>Suggest further analysis on profitability and customer satisfaction for a comprehensive understanding.</a:t>
            </a:r>
          </a:p>
          <a:p>
            <a:endParaRPr lang="en-US" sz="1800" dirty="0"/>
          </a:p>
        </p:txBody>
      </p:sp>
      <p:sp>
        <p:nvSpPr>
          <p:cNvPr id="4" name="Rectangle 3">
            <a:extLst>
              <a:ext uri="{FF2B5EF4-FFF2-40B4-BE49-F238E27FC236}">
                <a16:creationId xmlns:a16="http://schemas.microsoft.com/office/drawing/2014/main" id="{DD7B960C-F6E1-AE45-98A6-122DB2A97B5B}"/>
              </a:ext>
            </a:extLst>
          </p:cNvPr>
          <p:cNvSpPr/>
          <p:nvPr/>
        </p:nvSpPr>
        <p:spPr>
          <a:xfrm>
            <a:off x="0" y="0"/>
            <a:ext cx="12192000" cy="1371600"/>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526CBCB-8ADA-0E48-96D7-11EEE40222DD}"/>
              </a:ext>
            </a:extLst>
          </p:cNvPr>
          <p:cNvSpPr>
            <a:spLocks noGrp="1"/>
          </p:cNvSpPr>
          <p:nvPr>
            <p:ph type="title"/>
          </p:nvPr>
        </p:nvSpPr>
        <p:spPr>
          <a:xfrm>
            <a:off x="838200" y="46037"/>
            <a:ext cx="10515600" cy="1325563"/>
          </a:xfrm>
        </p:spPr>
        <p:txBody>
          <a:bodyPr>
            <a:normAutofit/>
          </a:bodyPr>
          <a:lstStyle/>
          <a:p>
            <a:r>
              <a:rPr lang="en-US" sz="3500" b="1" dirty="0">
                <a:solidFill>
                  <a:schemeClr val="accent2"/>
                </a:solidFill>
                <a:latin typeface="Calibri" panose="020F0502020204030204" pitchFamily="34" charset="0"/>
                <a:cs typeface="Calibri" panose="020F0502020204030204" pitchFamily="34" charset="0"/>
              </a:rPr>
              <a:t>Recommendations</a:t>
            </a:r>
          </a:p>
        </p:txBody>
      </p:sp>
    </p:spTree>
    <p:extLst>
      <p:ext uri="{BB962C8B-B14F-4D97-AF65-F5344CB8AC3E}">
        <p14:creationId xmlns:p14="http://schemas.microsoft.com/office/powerpoint/2010/main" val="354327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C5C5A3-2E84-0849-82EA-36D2326D3784}"/>
              </a:ext>
            </a:extLst>
          </p:cNvPr>
          <p:cNvSpPr>
            <a:spLocks noGrp="1"/>
          </p:cNvSpPr>
          <p:nvPr>
            <p:ph idx="1"/>
          </p:nvPr>
        </p:nvSpPr>
        <p:spPr>
          <a:xfrm>
            <a:off x="762000" y="1812608"/>
            <a:ext cx="10515600" cy="3004719"/>
          </a:xfrm>
        </p:spPr>
        <p:txBody>
          <a:bodyPr>
            <a:normAutofit/>
          </a:bodyPr>
          <a:lstStyle/>
          <a:p>
            <a:r>
              <a:rPr lang="en-US" sz="1800" dirty="0"/>
              <a:t>Data-driven insights are vital for making informed investment decisions in the competitive cab industry.</a:t>
            </a:r>
          </a:p>
          <a:p>
            <a:r>
              <a:rPr lang="en-US" sz="1800" dirty="0"/>
              <a:t>XYZ Company should consider both quantitative data and qualitative factors for their investment strategy.</a:t>
            </a:r>
          </a:p>
          <a:p>
            <a:endParaRPr lang="en-US" sz="1800" dirty="0"/>
          </a:p>
        </p:txBody>
      </p:sp>
      <p:sp>
        <p:nvSpPr>
          <p:cNvPr id="4" name="Rectangle 3">
            <a:extLst>
              <a:ext uri="{FF2B5EF4-FFF2-40B4-BE49-F238E27FC236}">
                <a16:creationId xmlns:a16="http://schemas.microsoft.com/office/drawing/2014/main" id="{DD7B960C-F6E1-AE45-98A6-122DB2A97B5B}"/>
              </a:ext>
            </a:extLst>
          </p:cNvPr>
          <p:cNvSpPr/>
          <p:nvPr/>
        </p:nvSpPr>
        <p:spPr>
          <a:xfrm>
            <a:off x="0" y="0"/>
            <a:ext cx="12192000" cy="1371600"/>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C526CBCB-8ADA-0E48-96D7-11EEE40222DD}"/>
              </a:ext>
            </a:extLst>
          </p:cNvPr>
          <p:cNvSpPr>
            <a:spLocks noGrp="1"/>
          </p:cNvSpPr>
          <p:nvPr>
            <p:ph type="title"/>
          </p:nvPr>
        </p:nvSpPr>
        <p:spPr>
          <a:xfrm>
            <a:off x="838200" y="46037"/>
            <a:ext cx="10515600" cy="1325563"/>
          </a:xfrm>
        </p:spPr>
        <p:txBody>
          <a:bodyPr>
            <a:normAutofit/>
          </a:bodyPr>
          <a:lstStyle/>
          <a:p>
            <a:r>
              <a:rPr lang="en-US" sz="3500" b="1" dirty="0">
                <a:solidFill>
                  <a:schemeClr val="accent2"/>
                </a:solidFill>
                <a:latin typeface="Calibri" panose="020F0502020204030204" pitchFamily="34" charset="0"/>
                <a:cs typeface="Calibri" panose="020F0502020204030204" pitchFamily="34" charset="0"/>
              </a:rPr>
              <a:t>Conclusion</a:t>
            </a:r>
          </a:p>
        </p:txBody>
      </p:sp>
    </p:spTree>
    <p:extLst>
      <p:ext uri="{BB962C8B-B14F-4D97-AF65-F5344CB8AC3E}">
        <p14:creationId xmlns:p14="http://schemas.microsoft.com/office/powerpoint/2010/main" val="3686273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8F26E-9345-4747-9094-972E38700A17}"/>
              </a:ext>
            </a:extLst>
          </p:cNvPr>
          <p:cNvSpPr>
            <a:spLocks noGrp="1"/>
          </p:cNvSpPr>
          <p:nvPr>
            <p:ph type="ctrTitle"/>
          </p:nvPr>
        </p:nvSpPr>
        <p:spPr>
          <a:xfrm rot="5400000">
            <a:off x="-562431" y="562430"/>
            <a:ext cx="6858002" cy="5733142"/>
          </a:xfrm>
          <a:solidFill>
            <a:srgbClr val="3B3B3B"/>
          </a:solidFill>
        </p:spPr>
        <p:txBody>
          <a:bodyPr vert="vert270" anchor="t" anchorCtr="0"/>
          <a:lstStyle/>
          <a:p>
            <a:endParaRPr lang="en-US" b="1" dirty="0">
              <a:solidFill>
                <a:srgbClr val="FF6600"/>
              </a:solidFill>
            </a:endParaRPr>
          </a:p>
        </p:txBody>
      </p:sp>
      <p:pic>
        <p:nvPicPr>
          <p:cNvPr id="4" name="Picture 3">
            <a:extLst>
              <a:ext uri="{FF2B5EF4-FFF2-40B4-BE49-F238E27FC236}">
                <a16:creationId xmlns:a16="http://schemas.microsoft.com/office/drawing/2014/main" id="{7A465064-0714-5743-882B-8875105A70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63771"/>
            <a:ext cx="1654627" cy="994232"/>
          </a:xfrm>
          <a:prstGeom prst="rect">
            <a:avLst/>
          </a:prstGeom>
        </p:spPr>
      </p:pic>
      <p:sp>
        <p:nvSpPr>
          <p:cNvPr id="6" name="Subtitle 5">
            <a:extLst>
              <a:ext uri="{FF2B5EF4-FFF2-40B4-BE49-F238E27FC236}">
                <a16:creationId xmlns:a16="http://schemas.microsoft.com/office/drawing/2014/main" id="{2D4BA697-580E-5544-8F2F-194AD99B859F}"/>
              </a:ext>
            </a:extLst>
          </p:cNvPr>
          <p:cNvSpPr>
            <a:spLocks noGrp="1"/>
          </p:cNvSpPr>
          <p:nvPr>
            <p:ph type="subTitle" idx="1"/>
          </p:nvPr>
        </p:nvSpPr>
        <p:spPr>
          <a:xfrm>
            <a:off x="5152570" y="2481943"/>
            <a:ext cx="5558973" cy="1655762"/>
          </a:xfrm>
        </p:spPr>
        <p:txBody>
          <a:bodyPr>
            <a:normAutofit/>
          </a:bodyPr>
          <a:lstStyle/>
          <a:p>
            <a:r>
              <a:rPr lang="en-US" sz="6600" dirty="0">
                <a:solidFill>
                  <a:srgbClr val="FF6600"/>
                </a:solidFill>
              </a:rPr>
              <a:t>Thank You</a:t>
            </a:r>
          </a:p>
          <a:p>
            <a:endParaRPr lang="en-US" sz="6600" dirty="0">
              <a:solidFill>
                <a:srgbClr val="FF6600"/>
              </a:solidFill>
            </a:endParaRPr>
          </a:p>
        </p:txBody>
      </p:sp>
    </p:spTree>
    <p:extLst>
      <p:ext uri="{BB962C8B-B14F-4D97-AF65-F5344CB8AC3E}">
        <p14:creationId xmlns:p14="http://schemas.microsoft.com/office/powerpoint/2010/main" val="116821060"/>
      </p:ext>
    </p:extLst>
  </p:cSld>
  <p:clrMapOvr>
    <a:masterClrMapping/>
  </p:clrMapOvr>
</p:sld>
</file>

<file path=ppt/theme/theme1.xml><?xml version="1.0" encoding="utf-8"?>
<a:theme xmlns:a="http://schemas.openxmlformats.org/drawingml/2006/main" name="Office 테마">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ta Glacier Internship" id="{2B17C0A9-4F1A-394C-9305-82F12CA26E4F}" vid="{F9955FDF-826E-7C4D-B52C-017E9540C8B9}"/>
    </a:ext>
  </a:extLst>
</a:theme>
</file>

<file path=docProps/app.xml><?xml version="1.0" encoding="utf-8"?>
<Properties xmlns="http://schemas.openxmlformats.org/officeDocument/2006/extended-properties" xmlns:vt="http://schemas.openxmlformats.org/officeDocument/2006/docPropsVTypes">
  <Template>Office 테마</Template>
  <TotalTime>164</TotalTime>
  <Words>346</Words>
  <Application>Microsoft Macintosh PowerPoint</Application>
  <PresentationFormat>와이드스크린</PresentationFormat>
  <Paragraphs>42</Paragraphs>
  <Slides>10</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10</vt:i4>
      </vt:variant>
    </vt:vector>
  </HeadingPairs>
  <TitlesOfParts>
    <vt:vector size="14" baseType="lpstr">
      <vt:lpstr>Arial</vt:lpstr>
      <vt:lpstr>Calibri</vt:lpstr>
      <vt:lpstr>Calibri Light</vt:lpstr>
      <vt:lpstr>Office 테마</vt:lpstr>
      <vt:lpstr>PowerPoint 프레젠테이션</vt:lpstr>
      <vt:lpstr>   Agenda</vt:lpstr>
      <vt:lpstr>Executive Summary</vt:lpstr>
      <vt:lpstr>Problem Statement</vt:lpstr>
      <vt:lpstr>Approach</vt:lpstr>
      <vt:lpstr>EDA</vt:lpstr>
      <vt:lpstr>EDA Summary</vt:lpstr>
      <vt:lpstr>Recommendations</vt:lpstr>
      <vt:lpstr>Conclusion</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민석 김</dc:creator>
  <cp:lastModifiedBy>민석 김</cp:lastModifiedBy>
  <cp:revision>1</cp:revision>
  <dcterms:created xsi:type="dcterms:W3CDTF">2023-12-21T01:44:22Z</dcterms:created>
  <dcterms:modified xsi:type="dcterms:W3CDTF">2023-12-21T04:29:14Z</dcterms:modified>
</cp:coreProperties>
</file>